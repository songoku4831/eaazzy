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3" r:id="rId4"/>
    <p:sldId id="273" r:id="rId5"/>
    <p:sldId id="258" r:id="rId6"/>
    <p:sldId id="260" r:id="rId7"/>
    <p:sldId id="261" r:id="rId8"/>
    <p:sldId id="262" r:id="rId9"/>
    <p:sldId id="263" r:id="rId10"/>
    <p:sldId id="264" r:id="rId11"/>
    <p:sldId id="275" r:id="rId12"/>
    <p:sldId id="265" r:id="rId13"/>
    <p:sldId id="266" r:id="rId14"/>
    <p:sldId id="267" r:id="rId15"/>
    <p:sldId id="268" r:id="rId16"/>
    <p:sldId id="269" r:id="rId17"/>
    <p:sldId id="282" r:id="rId18"/>
    <p:sldId id="277" r:id="rId19"/>
    <p:sldId id="281" r:id="rId20"/>
    <p:sldId id="278" r:id="rId21"/>
    <p:sldId id="280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499A8-23CF-A332-F116-D977DFB2E4B2}" v="3" dt="2026-05-01T06:15:51.437"/>
    <p1510:client id="{0A7BE632-8446-9226-AB90-ADED4EB61254}" v="423" dt="2026-05-01T07:42:47.258"/>
    <p1510:client id="{67A11D8F-21E1-4573-9915-9A703E377ED5}" v="287" dt="2026-05-01T07:43:55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0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98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1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64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96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84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53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46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42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27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581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8429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5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034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0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3DA50-2D7A-47B0-9C3B-54F0DAE4B65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7870E3-E064-461C-BB22-FEBE6898A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41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1571-D141-0FF6-2F64-52EAA6FFC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856" y="1782902"/>
            <a:ext cx="7766936" cy="1646302"/>
          </a:xfrm>
        </p:spPr>
        <p:txBody>
          <a:bodyPr/>
          <a:lstStyle/>
          <a:p>
            <a:r>
              <a:rPr lang="en-US"/>
              <a:t>ANOTHER ATTEMPT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96F67-61C6-1E16-331C-6D86B8670F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104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FF8E-9C4D-6253-A3B5-EFAD93A3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791B-35EB-3212-4E4C-C540D0AD7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8983"/>
            <a:ext cx="8596668" cy="4242379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r>
              <a:rPr lang="en-IN"/>
              <a:t>L</a:t>
            </a:r>
          </a:p>
          <a:p>
            <a:endParaRPr lang="en-IN"/>
          </a:p>
          <a:p>
            <a:r>
              <a:rPr lang="en-IN"/>
              <a:t>R</a:t>
            </a:r>
          </a:p>
          <a:p>
            <a:endParaRPr lang="en-IN"/>
          </a:p>
          <a:p>
            <a:r>
              <a:rPr lang="el-GR" b="1"/>
              <a:t> α</a:t>
            </a:r>
            <a:endParaRPr lang="en-IN" b="1"/>
          </a:p>
          <a:p>
            <a:endParaRPr lang="el-GR" b="1"/>
          </a:p>
          <a:p>
            <a:r>
              <a:rPr lang="el-GR" b="1"/>
              <a:t>γ</a:t>
            </a:r>
          </a:p>
          <a:p>
            <a:endParaRPr lang="en-IN"/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0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4F11-24D4-2D90-3CA3-A8221EA4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571" y="2865521"/>
            <a:ext cx="5197747" cy="719222"/>
          </a:xfrm>
        </p:spPr>
        <p:txBody>
          <a:bodyPr/>
          <a:lstStyle/>
          <a:p>
            <a:r>
              <a:rPr lang="en-US"/>
              <a:t>Key </a:t>
            </a:r>
            <a:r>
              <a:rPr lang="en-US" err="1"/>
              <a:t>realisations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AF37AF-F9A0-BF13-EE34-739FD587414C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-1800000">
            <a:off x="5156934" y="3907560"/>
            <a:ext cx="6019905" cy="111351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92EF-240B-D2E5-6EB9-44D35D6E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79A8-E988-8F9E-8620-BA78C02E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standard </a:t>
            </a:r>
            <a:r>
              <a:rPr lang="en-US" err="1"/>
              <a:t>vamana</a:t>
            </a:r>
            <a:r>
              <a:rPr lang="en-US"/>
              <a:t> search fixes Same alpha and R for every node </a:t>
            </a:r>
          </a:p>
        </p:txBody>
      </p:sp>
    </p:spTree>
    <p:extLst>
      <p:ext uri="{BB962C8B-B14F-4D97-AF65-F5344CB8AC3E}">
        <p14:creationId xmlns:p14="http://schemas.microsoft.com/office/powerpoint/2010/main" val="204735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FE59-E3A2-0E5E-7D7F-325DAA00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Stage-1: Adaptive Edge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851F-A19E-F4D1-D50B-7682365AC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565"/>
            <a:ext cx="8596668" cy="5029200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r>
              <a:rPr lang="en-US"/>
              <a:t> the value of alpha and 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We use adaptive alpha and R for each node instead of fixed values.</a:t>
            </a:r>
          </a:p>
          <a:p>
            <a:endParaRPr lang="en-US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l-GR"/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86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F18B-0C9F-D1E7-654E-0D3717ED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/>
              <a:t>What is </a:t>
            </a:r>
            <a:r>
              <a:rPr lang="el-GR" sz="5400"/>
              <a:t>ρ</a:t>
            </a:r>
            <a:r>
              <a:rPr lang="en-IN" sz="540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F165-24A0-1FB2-420A-7A823E7BC20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endParaRPr lang="en-IN"/>
          </a:p>
          <a:p>
            <a:r>
              <a:rPr lang="en-IN"/>
              <a:t>In a given dataset, every node will have a value of </a:t>
            </a:r>
            <a:r>
              <a:rPr lang="el-GR"/>
              <a:t>ρ</a:t>
            </a:r>
            <a:r>
              <a:rPr lang="en-IN"/>
              <a:t>. </a:t>
            </a:r>
          </a:p>
          <a:p>
            <a:endParaRPr lang="en-IN"/>
          </a:p>
          <a:p>
            <a:endParaRPr lang="en-IN"/>
          </a:p>
          <a:p>
            <a:endParaRPr lang="en-IN"/>
          </a:p>
          <a:p>
            <a:r>
              <a:rPr lang="en-IN"/>
              <a:t>For every node in a dataset, </a:t>
            </a:r>
            <a:r>
              <a:rPr lang="el-GR"/>
              <a:t>ρ</a:t>
            </a:r>
            <a:r>
              <a:rPr lang="en-IN"/>
              <a:t> is a constant value for a given value of “m”.</a:t>
            </a:r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197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D67E-2505-23C6-6B03-4C8D9D49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0904"/>
          </a:xfrm>
        </p:spPr>
        <p:txBody>
          <a:bodyPr>
            <a:normAutofit/>
          </a:bodyPr>
          <a:lstStyle/>
          <a:p>
            <a:r>
              <a:rPr lang="en-IN" sz="4000"/>
              <a:t>m and </a:t>
            </a:r>
            <a:r>
              <a:rPr lang="el-GR" sz="4000"/>
              <a:t>ρ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2CC94-2A70-9BE9-86E4-13164A5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2659"/>
            <a:ext cx="8596668" cy="3880773"/>
          </a:xfrm>
          <a:solidFill>
            <a:schemeClr val="bg2">
              <a:lumMod val="90000"/>
            </a:schemeClr>
          </a:solidFill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endParaRPr lang="en-IN"/>
          </a:p>
          <a:p>
            <a:r>
              <a:rPr lang="en-IN"/>
              <a:t>   </a:t>
            </a:r>
            <a:r>
              <a:rPr lang="el-GR"/>
              <a:t>ρ</a:t>
            </a:r>
            <a:r>
              <a:rPr lang="en-IN"/>
              <a:t> = distance to nearest </a:t>
            </a:r>
            <a:r>
              <a:rPr lang="en-IN" err="1"/>
              <a:t>mth</a:t>
            </a:r>
            <a:r>
              <a:rPr lang="en-IN"/>
              <a:t> neighbour/distance to nearest neighbour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m is a value we choose</a:t>
            </a:r>
          </a:p>
        </p:txBody>
      </p:sp>
    </p:spTree>
    <p:extLst>
      <p:ext uri="{BB962C8B-B14F-4D97-AF65-F5344CB8AC3E}">
        <p14:creationId xmlns:p14="http://schemas.microsoft.com/office/powerpoint/2010/main" val="300382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FE94-ABF1-BA11-A60A-FBC86FD7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Neighbourhood of a Node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8D7051-3B5B-E726-3E28-66C2DD44E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689651"/>
            <a:ext cx="8596668" cy="387626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0172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E34F-CA28-C1F2-CAF2-2FB39B6C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0539"/>
          </a:xfrm>
        </p:spPr>
        <p:txBody>
          <a:bodyPr/>
          <a:lstStyle/>
          <a:p>
            <a:r>
              <a:rPr lang="en-IN"/>
              <a:t>New </a:t>
            </a:r>
            <a:r>
              <a:rPr lang="el-GR"/>
              <a:t>α</a:t>
            </a:r>
            <a:r>
              <a:rPr lang="en-IN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5D70F-B802-D352-1B06-81E0793E9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87217"/>
            <a:ext cx="8596668" cy="3954145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  <a:p>
            <a:r>
              <a:rPr lang="el-GR"/>
              <a:t>α_</a:t>
            </a:r>
            <a:r>
              <a:rPr lang="en-IN"/>
              <a:t>u = </a:t>
            </a:r>
            <a:r>
              <a:rPr lang="el-GR"/>
              <a:t>α_</a:t>
            </a:r>
            <a:r>
              <a:rPr lang="en-IN"/>
              <a:t>min + (</a:t>
            </a:r>
            <a:r>
              <a:rPr lang="el-GR"/>
              <a:t>α_</a:t>
            </a:r>
            <a:r>
              <a:rPr lang="en-IN"/>
              <a:t>max - </a:t>
            </a:r>
            <a:r>
              <a:rPr lang="el-GR"/>
              <a:t>α_</a:t>
            </a:r>
            <a:r>
              <a:rPr lang="en-IN"/>
              <a:t>min) / (1 + e^(-</a:t>
            </a:r>
            <a:r>
              <a:rPr lang="el-GR"/>
              <a:t>β × (ρ_</a:t>
            </a:r>
            <a:r>
              <a:rPr lang="en-IN"/>
              <a:t>u - </a:t>
            </a:r>
            <a:r>
              <a:rPr lang="el-GR"/>
              <a:t>ρ_</a:t>
            </a:r>
            <a:r>
              <a:rPr lang="en-IN"/>
              <a:t>med)))</a:t>
            </a:r>
          </a:p>
          <a:p>
            <a:endParaRPr lang="en-IN"/>
          </a:p>
          <a:p>
            <a:endParaRPr lang="en-IN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4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DEE3-68C6-0A64-18B9-C99EF502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New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7D264-AE75-9C3A-B145-D42320EAA6A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endParaRPr lang="en-IN"/>
          </a:p>
          <a:p>
            <a:r>
              <a:rPr lang="pt-BR" err="1"/>
              <a:t>R_u</a:t>
            </a:r>
            <a:r>
              <a:rPr lang="pt-BR"/>
              <a:t> = </a:t>
            </a:r>
            <a:r>
              <a:rPr lang="pt-BR" err="1"/>
              <a:t>clamp</a:t>
            </a:r>
            <a:r>
              <a:rPr lang="pt-BR"/>
              <a:t>( </a:t>
            </a:r>
            <a:r>
              <a:rPr lang="pt-BR" err="1"/>
              <a:t>R_base</a:t>
            </a:r>
            <a:r>
              <a:rPr lang="pt-BR"/>
              <a:t> × (1 + γ × </a:t>
            </a:r>
            <a:r>
              <a:rPr lang="pt-BR" err="1"/>
              <a:t>log(ρ_u</a:t>
            </a:r>
            <a:r>
              <a:rPr lang="pt-BR"/>
              <a:t> / </a:t>
            </a:r>
            <a:r>
              <a:rPr lang="pt-BR" err="1"/>
              <a:t>ρ_med</a:t>
            </a:r>
            <a:r>
              <a:rPr lang="pt-BR"/>
              <a:t>)), </a:t>
            </a:r>
            <a:r>
              <a:rPr lang="pt-BR" err="1"/>
              <a:t>R_min</a:t>
            </a:r>
            <a:r>
              <a:rPr lang="pt-BR"/>
              <a:t>, </a:t>
            </a:r>
            <a:r>
              <a:rPr lang="pt-BR" err="1"/>
              <a:t>R_max</a:t>
            </a:r>
            <a:r>
              <a:rPr lang="pt-BR"/>
              <a:t> )</a:t>
            </a:r>
          </a:p>
          <a:p>
            <a:endParaRPr lang="pt-BR"/>
          </a:p>
          <a:p>
            <a:endParaRPr lang="en-US"/>
          </a:p>
          <a:p>
            <a:endParaRPr lang="en-US"/>
          </a:p>
          <a:p>
            <a:r>
              <a:rPr lang="en-US"/>
              <a:t>clamp(value, min, max) = if value &lt; min → return min</a:t>
            </a:r>
          </a:p>
          <a:p>
            <a:pPr marL="0" indent="0">
              <a:buNone/>
            </a:pPr>
            <a:r>
              <a:rPr lang="en-US"/>
              <a:t>                                             if value &gt; max → return max </a:t>
            </a:r>
          </a:p>
          <a:p>
            <a:pPr marL="0" indent="0">
              <a:buNone/>
            </a:pPr>
            <a:r>
              <a:rPr lang="en-US"/>
              <a:t>                                             else → return value</a:t>
            </a:r>
          </a:p>
          <a:p>
            <a:pPr marL="0" indent="0">
              <a:buNone/>
            </a:pPr>
            <a:r>
              <a:rPr lang="en-US"/>
              <a:t>    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305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C807-6637-912F-4CD0-EA8DD9B0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B406-EAA5-AEF9-A821-D208AFD99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  <a:p>
            <a:r>
              <a:rPr lang="en-US"/>
              <a:t>Better start plays role.</a:t>
            </a:r>
          </a:p>
        </p:txBody>
      </p:sp>
    </p:spTree>
    <p:extLst>
      <p:ext uri="{BB962C8B-B14F-4D97-AF65-F5344CB8AC3E}">
        <p14:creationId xmlns:p14="http://schemas.microsoft.com/office/powerpoint/2010/main" val="352670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073A-22C4-C6F1-1A59-8F8935D2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/>
              <a:t>Stage-2: Highway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EAAB-BC8C-8216-6AEA-9D314C85358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endParaRPr lang="en-IN"/>
          </a:p>
          <a:p>
            <a:r>
              <a:rPr lang="en-IN"/>
              <a:t>I</a:t>
            </a:r>
            <a:r>
              <a:rPr lang="en-US" err="1"/>
              <a:t>nstead</a:t>
            </a:r>
            <a:r>
              <a:rPr lang="en-US"/>
              <a:t> of starting search from a random point, we assign certain number </a:t>
            </a:r>
          </a:p>
          <a:p>
            <a:pPr marL="0" indent="0">
              <a:buNone/>
            </a:pPr>
            <a:r>
              <a:rPr lang="en-US"/>
              <a:t>     pivots(~√N) in the graph evenly spread.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When we were given a </a:t>
            </a:r>
            <a:r>
              <a:rPr lang="en-US" err="1"/>
              <a:t>query</a:t>
            </a:r>
            <a:r>
              <a:rPr lang="en-US"/>
              <a:t> we start the search from the nearest pivot from</a:t>
            </a:r>
          </a:p>
          <a:p>
            <a:pPr marL="0" indent="0">
              <a:buNone/>
            </a:pPr>
            <a:r>
              <a:rPr lang="en-US"/>
              <a:t>     that query vector.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     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10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A049-316E-1188-6F6D-3272B706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20227C-5B65-47AC-C051-497A56A85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240" y="609601"/>
            <a:ext cx="8064736" cy="58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2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4810-1F04-DBC4-D48F-AE94D609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89383"/>
          </a:xfrm>
        </p:spPr>
        <p:txBody>
          <a:bodyPr>
            <a:normAutofit/>
          </a:bodyPr>
          <a:lstStyle/>
          <a:p>
            <a:r>
              <a:rPr lang="en-US" sz="4800"/>
              <a:t>Stage-3: Setting data to pivots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AE04-F69C-1791-EAB0-597B3D12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6852"/>
            <a:ext cx="8596668" cy="3737113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marL="0" indent="0">
              <a:buNone/>
            </a:pPr>
            <a:endParaRPr lang="en-IN"/>
          </a:p>
          <a:p>
            <a:r>
              <a:rPr lang="en-US"/>
              <a:t>Since we have the pivots now, let’s try to assign some “pivot space” for each</a:t>
            </a:r>
          </a:p>
          <a:p>
            <a:pPr marL="0" indent="0">
              <a:buNone/>
            </a:pPr>
            <a:r>
              <a:rPr lang="en-US"/>
              <a:t>     pivot which helps us to find the closest pivot for a given query vector. </a:t>
            </a:r>
          </a:p>
          <a:p>
            <a:pPr marL="0" indent="0">
              <a:buNone/>
            </a:pPr>
            <a:endParaRPr lang="en-IN"/>
          </a:p>
          <a:p>
            <a:r>
              <a:rPr lang="en-US"/>
              <a:t>How do we do that ?</a:t>
            </a:r>
          </a:p>
          <a:p>
            <a:endParaRPr lang="en-US"/>
          </a:p>
          <a:p>
            <a:r>
              <a:rPr lang="en-US"/>
              <a:t>We’ll look at the cluster of the Graph.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239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42A8-7C80-8D9C-3FA2-513665EA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065C-F681-B4E3-EB12-20C40C6FC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23729"/>
            <a:ext cx="8596668" cy="5017633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  <a:p>
            <a:r>
              <a:rPr lang="en-IN"/>
              <a:t>Centroid: Centroid of Cluster</a:t>
            </a:r>
          </a:p>
          <a:p>
            <a:endParaRPr lang="en-IN"/>
          </a:p>
          <a:p>
            <a:r>
              <a:rPr lang="en-US"/>
              <a:t>Spread: Tells us about how scattered the data is around the Centroid</a:t>
            </a:r>
          </a:p>
          <a:p>
            <a:endParaRPr lang="en-US"/>
          </a:p>
          <a:p>
            <a:r>
              <a:rPr lang="en-US"/>
              <a:t>Representative: Closest </a:t>
            </a:r>
            <a:r>
              <a:rPr lang="en-US" err="1"/>
              <a:t>data_point</a:t>
            </a:r>
            <a:r>
              <a:rPr lang="en-US"/>
              <a:t> in that dataset to the Centroid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Now let’s try to create pivot space for each pivot, we need to follow these</a:t>
            </a:r>
          </a:p>
          <a:p>
            <a:pPr marL="0" indent="0">
              <a:buNone/>
            </a:pPr>
            <a:r>
              <a:rPr lang="en-US"/>
              <a:t>     steps: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132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9155-5B91-3E1D-119F-C8687A17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/>
              <a:t>Creating a set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399F-4118-CBDB-DC0C-9633DE0B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8861"/>
            <a:ext cx="8596668" cy="4542182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  <a:p>
            <a:r>
              <a:rPr lang="en-US"/>
              <a:t>Create/</a:t>
            </a:r>
            <a:r>
              <a:rPr lang="en-US" err="1"/>
              <a:t>Synthesise</a:t>
            </a:r>
            <a:r>
              <a:rPr lang="en-US"/>
              <a:t> our own vectors:</a:t>
            </a:r>
          </a:p>
          <a:p>
            <a:pPr marL="0" indent="0">
              <a:buNone/>
            </a:pPr>
            <a:r>
              <a:rPr lang="en-US"/>
              <a:t>              </a:t>
            </a:r>
          </a:p>
          <a:p>
            <a:pPr marL="0" indent="0">
              <a:buNone/>
            </a:pPr>
            <a:r>
              <a:rPr lang="en-US"/>
              <a:t>       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We’ll map each of these </a:t>
            </a:r>
            <a:r>
              <a:rPr lang="en-US" err="1"/>
              <a:t>synthetic_vectors</a:t>
            </a:r>
            <a:r>
              <a:rPr lang="en-US"/>
              <a:t> to the closest pivots and the region where every </a:t>
            </a:r>
            <a:r>
              <a:rPr lang="en-US" err="1"/>
              <a:t>synthetic_vector</a:t>
            </a:r>
            <a:r>
              <a:rPr lang="en-US"/>
              <a:t> mapped to a pivot is called it’s pivot space.</a:t>
            </a:r>
          </a:p>
          <a:p>
            <a:endParaRPr lang="en-US"/>
          </a:p>
          <a:p>
            <a:r>
              <a:rPr lang="en-US"/>
              <a:t>Now since we have these pivot spaces, this makes it </a:t>
            </a:r>
            <a:r>
              <a:rPr lang="en-US" err="1"/>
              <a:t>alot</a:t>
            </a:r>
            <a:r>
              <a:rPr lang="en-US"/>
              <a:t> better. How?</a:t>
            </a:r>
          </a:p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07D694-459A-4129-4F52-2C5A8A373DFD}"/>
              </a:ext>
            </a:extLst>
          </p:cNvPr>
          <p:cNvSpPr/>
          <p:nvPr/>
        </p:nvSpPr>
        <p:spPr>
          <a:xfrm>
            <a:off x="1411356" y="2941983"/>
            <a:ext cx="6152322" cy="5068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rgbClr val="FF0000"/>
                </a:solidFill>
              </a:rPr>
              <a:t>synthetic_vector</a:t>
            </a:r>
            <a:r>
              <a:rPr lang="en-US">
                <a:solidFill>
                  <a:srgbClr val="FF0000"/>
                </a:solidFill>
              </a:rPr>
              <a:t> = centroid + </a:t>
            </a:r>
            <a:r>
              <a:rPr lang="en-US" err="1">
                <a:solidFill>
                  <a:srgbClr val="FF0000"/>
                </a:solidFill>
              </a:rPr>
              <a:t>random_noise</a:t>
            </a:r>
            <a:r>
              <a:rPr lang="en-US">
                <a:solidFill>
                  <a:srgbClr val="FF0000"/>
                </a:solidFill>
              </a:rPr>
              <a:t> * spread</a:t>
            </a:r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210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24FF-EB8F-574C-F130-3F1E4594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 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613AA-AA2D-7E3D-4CD3-CB5A218AE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rgbClr val="90C226"/>
                </a:solidFill>
              </a:rPr>
              <a:t>Does this solution work significantly good for all values of r and L?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33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9F03-9742-036D-DECE-4C1B1254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Different R </a:t>
            </a:r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AB5133C-D1B5-CC0D-A0FC-CEFE7C6A7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1535" y="2160589"/>
            <a:ext cx="7068266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8FCC-BF34-B053-EFBC-D82F4933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2318564" y="840154"/>
            <a:ext cx="5876915" cy="74245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endParaRPr lang="en-US"/>
          </a:p>
        </p:txBody>
      </p:sp>
      <p:pic>
        <p:nvPicPr>
          <p:cNvPr id="4" name="Content Placeholder 3" descr="A graph with a line graph and a line graph&#10;&#10;AI-generated content may be incorrect.">
            <a:extLst>
              <a:ext uri="{FF2B5EF4-FFF2-40B4-BE49-F238E27FC236}">
                <a16:creationId xmlns:a16="http://schemas.microsoft.com/office/drawing/2014/main" id="{C45B6CBC-287D-73CF-BFC8-01A3922C0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776" y="586617"/>
            <a:ext cx="9155722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5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9A50-D304-A9B9-CBCB-5A7E7742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at r=10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7B46A9-EE92-6281-73E0-914C7FB45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593" y="2315038"/>
            <a:ext cx="65341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64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AB72-7BDD-6699-822D-ADFAF630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608391" cy="1086339"/>
          </a:xfrm>
        </p:spPr>
        <p:txBody>
          <a:bodyPr>
            <a:normAutofit fontScale="90000"/>
          </a:bodyPr>
          <a:lstStyle/>
          <a:p>
            <a:r>
              <a:rPr lang="en-US"/>
              <a:t>   </a:t>
            </a:r>
            <a:br>
              <a:rPr lang="en-US"/>
            </a:br>
            <a:endParaRPr lang="en-US"/>
          </a:p>
        </p:txBody>
      </p:sp>
      <p:pic>
        <p:nvPicPr>
          <p:cNvPr id="10" name="Content Placeholder 9" descr="A graph with red line and numbers&#10;&#10;AI-generated content may be incorrect.">
            <a:extLst>
              <a:ext uri="{FF2B5EF4-FFF2-40B4-BE49-F238E27FC236}">
                <a16:creationId xmlns:a16="http://schemas.microsoft.com/office/drawing/2014/main" id="{5B96CA24-E4FE-2E9C-48A5-90DAE19ED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049" y="507635"/>
            <a:ext cx="9047031" cy="488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45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C217-56A4-4A7F-4547-62E86614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73" y="1762539"/>
            <a:ext cx="8596668" cy="2242930"/>
          </a:xfrm>
        </p:spPr>
        <p:txBody>
          <a:bodyPr>
            <a:normAutofit/>
          </a:bodyPr>
          <a:lstStyle/>
          <a:p>
            <a:r>
              <a:rPr lang="en-IN" sz="4800"/>
              <a:t>Is This Method Good?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110B-250A-88F7-92CF-746DCACAA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82" y="1156736"/>
            <a:ext cx="8596668" cy="3880773"/>
          </a:xfrm>
        </p:spPr>
        <p:txBody>
          <a:bodyPr/>
          <a:lstStyle/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74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9EB2-01DA-3269-9FF1-A9C4AD47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3B8D-AF5A-A566-6C29-14848ED2B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554411"/>
          </a:xfrm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  <a:p>
            <a:r>
              <a:rPr lang="en-IN"/>
              <a:t>It runs Fast.</a:t>
            </a:r>
          </a:p>
          <a:p>
            <a:endParaRPr lang="en-IN"/>
          </a:p>
          <a:p>
            <a:endParaRPr lang="en-IN"/>
          </a:p>
          <a:p>
            <a:r>
              <a:rPr lang="en-IN"/>
              <a:t>It can get good accuracy for most of the cases.</a:t>
            </a:r>
          </a:p>
        </p:txBody>
      </p:sp>
    </p:spTree>
    <p:extLst>
      <p:ext uri="{BB962C8B-B14F-4D97-AF65-F5344CB8AC3E}">
        <p14:creationId xmlns:p14="http://schemas.microsoft.com/office/powerpoint/2010/main" val="116140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73D7-F57E-856B-80C1-8318C06F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AF0E-5EAB-58CC-928A-A2B18520A93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  <a:ln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  <a:p>
            <a:r>
              <a:rPr lang="en-IN"/>
              <a:t>There might be a problem at the edges of pivot spaces.</a:t>
            </a:r>
          </a:p>
          <a:p>
            <a:endParaRPr lang="en-IN"/>
          </a:p>
          <a:p>
            <a:r>
              <a:rPr lang="en-IN"/>
              <a:t>Might fail for extreme cases.</a:t>
            </a:r>
          </a:p>
        </p:txBody>
      </p:sp>
    </p:spTree>
    <p:extLst>
      <p:ext uri="{BB962C8B-B14F-4D97-AF65-F5344CB8AC3E}">
        <p14:creationId xmlns:p14="http://schemas.microsoft.com/office/powerpoint/2010/main" val="11880706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Facet</vt:lpstr>
      <vt:lpstr>ANOTHER ATTEMPT </vt:lpstr>
      <vt:lpstr>Important Terms</vt:lpstr>
      <vt:lpstr>Key realisations</vt:lpstr>
      <vt:lpstr>OBSERVATION 1</vt:lpstr>
      <vt:lpstr>Stage-1: Adaptive Edge Pruning</vt:lpstr>
      <vt:lpstr>What is ρ?</vt:lpstr>
      <vt:lpstr>m and ρ</vt:lpstr>
      <vt:lpstr>Neighbourhood of a Node</vt:lpstr>
      <vt:lpstr>New α </vt:lpstr>
      <vt:lpstr>New R</vt:lpstr>
      <vt:lpstr>OBSERVATION 2</vt:lpstr>
      <vt:lpstr>Stage-2: Highway Network</vt:lpstr>
      <vt:lpstr> </vt:lpstr>
      <vt:lpstr>Stage-3: Setting data to pivots</vt:lpstr>
      <vt:lpstr> </vt:lpstr>
      <vt:lpstr>Creating a set of vectors</vt:lpstr>
      <vt:lpstr>  </vt:lpstr>
      <vt:lpstr>Different R </vt:lpstr>
      <vt:lpstr> </vt:lpstr>
      <vt:lpstr>Recall at r=10</vt:lpstr>
      <vt:lpstr>    </vt:lpstr>
      <vt:lpstr>Is This Method Good?</vt:lpstr>
      <vt:lpstr>Advantages</vt:lpstr>
      <vt:lpstr>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Vardhan Bondala</dc:creator>
  <cp:revision>3</cp:revision>
  <dcterms:created xsi:type="dcterms:W3CDTF">2026-05-01T04:17:32Z</dcterms:created>
  <dcterms:modified xsi:type="dcterms:W3CDTF">2026-05-01T07:45:29Z</dcterms:modified>
</cp:coreProperties>
</file>